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339" r:id="rId2"/>
    <p:sldId id="345" r:id="rId3"/>
    <p:sldId id="353" r:id="rId4"/>
    <p:sldId id="352" r:id="rId5"/>
    <p:sldId id="349" r:id="rId6"/>
    <p:sldId id="350" r:id="rId7"/>
    <p:sldId id="34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HA YOON" initials="SY" lastIdx="6" clrIdx="0">
    <p:extLst>
      <p:ext uri="{19B8F6BF-5375-455C-9EA6-DF929625EA0E}">
        <p15:presenceInfo xmlns:p15="http://schemas.microsoft.com/office/powerpoint/2012/main" userId="96cc00e7ec7ed9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5170"/>
    <a:srgbClr val="0C1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32" autoAdjust="0"/>
    <p:restoredTop sz="81690" autoAdjust="0"/>
  </p:normalViewPr>
  <p:slideViewPr>
    <p:cSldViewPr snapToGrid="0" showGuides="1">
      <p:cViewPr varScale="1">
        <p:scale>
          <a:sx n="86" d="100"/>
          <a:sy n="86" d="100"/>
        </p:scale>
        <p:origin x="6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68358-22E0-4868-AC8B-E34E1C37E702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231C5-A625-405D-895E-F9B249B8EE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424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1C5-A625-405D-895E-F9B249B8EE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226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1C5-A625-405D-895E-F9B249B8EE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022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B231C5-A625-405D-895E-F9B249B8EE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48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487164E-8D00-C91A-35FD-3AFEDDA095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047" y="48817"/>
            <a:ext cx="1729153" cy="26486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화면 명 입력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F1F8A214-269F-90E2-AF16-C482022D37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00374" y="50282"/>
            <a:ext cx="2495551" cy="26193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화면 </a:t>
            </a:r>
            <a:r>
              <a:rPr lang="en-US" altLang="ko-KR" dirty="0"/>
              <a:t>ID</a:t>
            </a:r>
            <a:r>
              <a:rPr lang="ko-KR" altLang="en-US" dirty="0"/>
              <a:t>등록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5BEAB6B7-0B79-2BBD-983D-183ECA1210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34098" y="57426"/>
            <a:ext cx="3276601" cy="2476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화면 흐름등록</a:t>
            </a:r>
            <a:endParaRPr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3207592-F5B0-11DE-B699-4CCA976EB2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06035" y="57426"/>
            <a:ext cx="571499" cy="2476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&lt;#&gt;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496AFA15-6C2D-96BF-A46E-2C28CD3071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91749" y="619125"/>
            <a:ext cx="1876425" cy="84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화면 흐름 설명을 입력하세요</a:t>
            </a:r>
            <a:endParaRPr lang="ko-KR" altLang="en-US" dirty="0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94E78C33-18C9-DCF0-E27D-831A323212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91748" y="1733549"/>
            <a:ext cx="1876425" cy="1323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유의사항을 입력하세요</a:t>
            </a:r>
            <a:endParaRPr lang="ko-KR" altLang="en-US" dirty="0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7E819F0A-2EB6-2DF7-B006-A2E77676AA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91749" y="3324223"/>
            <a:ext cx="1876425" cy="163830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/>
              <a:t>화면설명을 입력하세요</a:t>
            </a:r>
            <a:endParaRPr lang="ko-KR" altLang="en-US" dirty="0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EF6DCF9E-5B71-67BD-6BEE-3C921B72A1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06035" y="5257798"/>
            <a:ext cx="1862138" cy="15620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관련 테이블을 입력하세요</a:t>
            </a:r>
            <a:endParaRPr lang="en-US" altLang="ko-KR" dirty="0"/>
          </a:p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31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A818C-AE3A-89CD-2988-43157973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8CBC8F-466B-82A4-45A4-6C0969EAF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0AE83E-5849-8655-52AE-455E14DD21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C3567-2F06-ADBC-0D0B-99A38E867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B712E7-6D77-FD4B-810F-11C7998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03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8D31A-EC63-6DBA-39C0-173C3562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BAF40F-965E-ED8C-E527-98B48C92C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427C60-6730-D982-791A-6857E0B4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2199FA-8D81-A6FA-70FB-E26A7DC7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47A410-D602-A9FB-FA34-5644C030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41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33F87-1B6C-728E-A1F9-3A3B33DE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60CDE0-A7B5-61CF-7150-82CF349C0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8D0314-2B72-8051-8FA1-482F1689B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C07E09-99D2-44EF-8A3C-7A4F385D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E6D038-D51D-A63A-2C55-88E08280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8B5571-5395-B847-8944-444E8B9FA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178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9EB2B-05B9-2279-DA5C-D28BB1DE4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CC9F4-CBCC-A255-C86F-1441BE4EE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42E339-560B-31D4-621D-C327D5D54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46D131-BD81-9359-3F89-F86912922E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A02C26-45B3-30F8-874B-96E8FB4AC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E0886CE-C9A9-CD68-19FD-4D630038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EA23A4-A123-4CD7-2630-76EFAC1D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064E2D8-C28D-049F-1706-8AFB0F48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84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F76D82-5519-84C6-F3D8-C8E0ED3E6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4AFDA9-E4CF-24CB-6200-5AA431BD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1106AC-776B-8A01-5D1C-577BEE835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81E9C9-C9A3-E52E-57F3-E606A19E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88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6305B4-AD6C-2C9B-C1DB-2EA7EDAE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C7193C-0FE0-CA7B-C3F9-9A4A085F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832734-D477-0133-EC7D-F92C3C73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373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7C2C88-81B3-AB96-6DDC-D8142B17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4A0FB-9006-15FD-E485-4DB8AF373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296296-2726-AA2D-D3E1-9202EDCE9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B9A88AD-1D89-459A-19B2-A37BD86CA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2EF203-D1DA-7862-7747-15BD4127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7FCF59-33A4-58DC-1158-1BC9EC2A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76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D936E-2EE7-AB97-4381-41296521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09EF89-8FC3-E3C9-084D-03A3D9D1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05E7A3-89F0-DB00-06D0-4A737DE1D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66DC27-E0DA-F101-A164-EA8D4BA2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350D67-EDB1-D187-9668-7CA04EFE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F5BA83-6E80-1D6B-6AFE-B313DAD2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097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C2043-9A02-51D3-77B2-BBB933CEC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1E15ED-F842-5E3E-65D4-DD5946460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6F6BD9-FA3D-34C4-0872-FAF41DE699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8D65B-D0E8-4062-5BC4-E8252A3B9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14B27-B81F-D72A-0E27-9FB3B6A7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74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24612F-3CDF-E549-969F-7FC050B8E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33AA98-B3BA-4127-A14A-866A2866A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CBF7F8-64FC-A6C6-15E2-EE999709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9EF3486-93EB-4E91-A723-F604D6926949}" type="datetimeFigureOut">
              <a:rPr lang="ko-KR" altLang="en-US" smtClean="0"/>
              <a:t>2026-04-22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CB3A75-F0F9-C137-B212-38D6226D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D22A85-76D5-F071-14A9-54E2BB8AF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CE577D-23B6-4E50-BC10-E4CBD7EB6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74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84727-E988-CEC6-48E5-9C3D76B83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25" y="455613"/>
            <a:ext cx="9144000" cy="239712"/>
          </a:xfrm>
          <a:prstGeom prst="rect">
            <a:avLst/>
          </a:prstGeom>
        </p:spPr>
        <p:txBody>
          <a:bodyPr anchor="ctr"/>
          <a:lstStyle>
            <a:lvl1pPr algn="l">
              <a:defRPr sz="1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46736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DA50FDB-53D8-8639-58F5-C137617FC977}"/>
              </a:ext>
            </a:extLst>
          </p:cNvPr>
          <p:cNvSpPr/>
          <p:nvPr userDrawn="1"/>
        </p:nvSpPr>
        <p:spPr>
          <a:xfrm>
            <a:off x="41845" y="357188"/>
            <a:ext cx="10151945" cy="6456188"/>
          </a:xfrm>
          <a:prstGeom prst="rect">
            <a:avLst/>
          </a:prstGeom>
          <a:noFill/>
          <a:ln w="9525" cmpd="sng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b="0"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5BDF7B-D781-25E6-8B52-32E8A351A72B}"/>
              </a:ext>
            </a:extLst>
          </p:cNvPr>
          <p:cNvSpPr/>
          <p:nvPr userDrawn="1"/>
        </p:nvSpPr>
        <p:spPr>
          <a:xfrm>
            <a:off x="43660" y="37154"/>
            <a:ext cx="12024968" cy="27781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8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5C6D76-F103-A400-A8EE-E2A760FCABA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659" y="37154"/>
            <a:ext cx="576000" cy="277200"/>
          </a:xfrm>
          <a:prstGeom prst="rect">
            <a:avLst/>
          </a:prstGeom>
          <a:solidFill>
            <a:srgbClr val="DEDEDE"/>
          </a:solidFill>
          <a:ln w="635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명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201B7A3-F752-F8CE-00B0-F30EE57E76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20000" y="37154"/>
            <a:ext cx="576000" cy="277200"/>
          </a:xfrm>
          <a:prstGeom prst="rect">
            <a:avLst/>
          </a:prstGeom>
          <a:solidFill>
            <a:srgbClr val="DEDEDE"/>
          </a:solidFill>
          <a:ln w="635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화면흐름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52FC0A52-EEDE-527E-EE4A-722B2AB69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32566" y="37154"/>
            <a:ext cx="764400" cy="277200"/>
          </a:xfrm>
          <a:prstGeom prst="rect">
            <a:avLst/>
          </a:prstGeom>
          <a:solidFill>
            <a:srgbClr val="DEDEDE"/>
          </a:solidFill>
          <a:ln w="635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Page</a:t>
            </a:r>
          </a:p>
        </p:txBody>
      </p:sp>
      <p:sp>
        <p:nvSpPr>
          <p:cNvPr id="15" name="Rectangle 45">
            <a:extLst>
              <a:ext uri="{FF2B5EF4-FFF2-40B4-BE49-F238E27FC236}">
                <a16:creationId xmlns:a16="http://schemas.microsoft.com/office/drawing/2014/main" id="{FB5E084E-E8FF-EAB5-5613-9DD8A12A9C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93791" y="1484784"/>
            <a:ext cx="1871662" cy="252413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유의사항</a:t>
            </a:r>
          </a:p>
        </p:txBody>
      </p:sp>
      <p:sp>
        <p:nvSpPr>
          <p:cNvPr id="16" name="Rectangle 45">
            <a:extLst>
              <a:ext uri="{FF2B5EF4-FFF2-40B4-BE49-F238E27FC236}">
                <a16:creationId xmlns:a16="http://schemas.microsoft.com/office/drawing/2014/main" id="{517DDE9C-07FA-C29F-5C10-7F0759EFB33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93791" y="357188"/>
            <a:ext cx="1871662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화면 흐름 설명</a:t>
            </a:r>
          </a:p>
        </p:txBody>
      </p:sp>
      <p:sp>
        <p:nvSpPr>
          <p:cNvPr id="17" name="Rectangle 46">
            <a:extLst>
              <a:ext uri="{FF2B5EF4-FFF2-40B4-BE49-F238E27FC236}">
                <a16:creationId xmlns:a16="http://schemas.microsoft.com/office/drawing/2014/main" id="{BEDF2F51-5736-3E98-327C-32466E0556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96966" y="3068960"/>
            <a:ext cx="1871662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화면 설명</a:t>
            </a:r>
            <a:endParaRPr lang="en-US" altLang="ko-KR" sz="90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2E935A95-86CF-0CD4-5AD7-29FFFD638C4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4597" y="37154"/>
            <a:ext cx="576000" cy="277200"/>
          </a:xfrm>
          <a:prstGeom prst="rect">
            <a:avLst/>
          </a:prstGeom>
          <a:solidFill>
            <a:srgbClr val="DEDEDE"/>
          </a:solidFill>
          <a:ln w="6350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</a:p>
        </p:txBody>
      </p:sp>
      <p:sp>
        <p:nvSpPr>
          <p:cNvPr id="20" name="Rectangle 46">
            <a:extLst>
              <a:ext uri="{FF2B5EF4-FFF2-40B4-BE49-F238E27FC236}">
                <a16:creationId xmlns:a16="http://schemas.microsoft.com/office/drawing/2014/main" id="{A59EBF6E-2ED5-08A1-D291-C84597BEA0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93791" y="4994598"/>
            <a:ext cx="1871662" cy="252412"/>
          </a:xfrm>
          <a:prstGeom prst="rect">
            <a:avLst/>
          </a:prstGeom>
          <a:solidFill>
            <a:srgbClr val="DEDEDE"/>
          </a:solid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/>
            <a:r>
              <a:rPr lang="ko-KR" altLang="en-US" sz="900" dirty="0">
                <a:solidFill>
                  <a:schemeClr val="tx1"/>
                </a:solidFill>
                <a:latin typeface="+mn-lt"/>
                <a:ea typeface="나눔고딕" panose="020D0604000000000000" pitchFamily="50" charset="-127"/>
              </a:rPr>
              <a:t>관련 테이블</a:t>
            </a:r>
            <a:endParaRPr lang="en-US" altLang="ko-KR" sz="900" dirty="0">
              <a:solidFill>
                <a:schemeClr val="tx1"/>
              </a:solidFill>
              <a:latin typeface="+mn-lt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40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byulsi@nav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DAFA29-761F-F7F9-DC60-8E1BD53A28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5FF078-CA0C-660E-9EEF-954E8B2C4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메인</a:t>
            </a:r>
            <a:r>
              <a:rPr lang="en-US" altLang="ko-KR" dirty="0"/>
              <a:t>/</a:t>
            </a:r>
            <a:r>
              <a:rPr lang="ko-KR" altLang="en-US" dirty="0"/>
              <a:t>철학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7153F4A-3273-05BE-7858-79BB97CC5A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5F6DB68-7823-F3D7-52EF-5140F5AE54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7BDB0A3-B7EA-C674-7776-85273CF001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첫 화면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메인 </a:t>
            </a:r>
            <a:r>
              <a:rPr lang="en-US" altLang="ko-KR" dirty="0">
                <a:highlight>
                  <a:srgbClr val="FFFF00"/>
                </a:highlight>
              </a:rPr>
              <a:t>/ </a:t>
            </a:r>
            <a:r>
              <a:rPr lang="ko-KR" altLang="en-US" dirty="0">
                <a:highlight>
                  <a:srgbClr val="FFFF00"/>
                </a:highlight>
              </a:rPr>
              <a:t>철학 上</a:t>
            </a:r>
            <a:endParaRPr lang="en-US" altLang="ko-KR" dirty="0">
              <a:highlight>
                <a:srgbClr val="FFFF00"/>
              </a:highlight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9C61634-ED18-5FA9-FF6A-0AABEEA7AC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06035" y="1780899"/>
            <a:ext cx="1876425" cy="1323975"/>
          </a:xfrm>
        </p:spPr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우리가 무엇을 하는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회사인지 </a:t>
            </a:r>
            <a:r>
              <a:rPr lang="en-US" altLang="ko-KR" dirty="0">
                <a:highlight>
                  <a:srgbClr val="FFFF00"/>
                </a:highlight>
              </a:rPr>
              <a:t>3</a:t>
            </a:r>
            <a:r>
              <a:rPr lang="ko-KR" altLang="en-US" dirty="0" err="1">
                <a:highlight>
                  <a:srgbClr val="FFFF00"/>
                </a:highlight>
              </a:rPr>
              <a:t>초만에</a:t>
            </a:r>
            <a:r>
              <a:rPr lang="ko-KR" altLang="en-US" dirty="0">
                <a:highlight>
                  <a:srgbClr val="FFFF00"/>
                </a:highlight>
              </a:rPr>
              <a:t> 이해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 err="1">
                <a:highlight>
                  <a:srgbClr val="FFFF00"/>
                </a:highlight>
              </a:rPr>
              <a:t>깔끔</a:t>
            </a:r>
            <a:r>
              <a:rPr lang="en-US" altLang="ko-KR" dirty="0">
                <a:highlight>
                  <a:srgbClr val="FFFF00"/>
                </a:highlight>
              </a:rPr>
              <a:t>!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F9B4D4A-38E1-0911-250C-FB04FFB1E0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메인 슬로건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47FD718D-91D0-A588-A286-D7B22102DE0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2D01DD3C-1A96-5380-030D-0F0DD56C59BB}"/>
              </a:ext>
            </a:extLst>
          </p:cNvPr>
          <p:cNvSpPr txBox="1"/>
          <p:nvPr/>
        </p:nvSpPr>
        <p:spPr>
          <a:xfrm>
            <a:off x="6242693" y="712835"/>
            <a:ext cx="2152650" cy="42386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002060"/>
                </a:solidFill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About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4CF7AAF8-814C-4283-A8EA-EEE14DE01C2F}"/>
              </a:ext>
            </a:extLst>
          </p:cNvPr>
          <p:cNvSpPr txBox="1"/>
          <p:nvPr/>
        </p:nvSpPr>
        <p:spPr>
          <a:xfrm>
            <a:off x="6920352" y="712835"/>
            <a:ext cx="1474991" cy="36933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002060"/>
                </a:solidFill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Work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B304EFE-C0FD-23E3-A610-7C0FC1478940}"/>
              </a:ext>
            </a:extLst>
          </p:cNvPr>
          <p:cNvGrpSpPr/>
          <p:nvPr/>
        </p:nvGrpSpPr>
        <p:grpSpPr>
          <a:xfrm>
            <a:off x="9233186" y="712835"/>
            <a:ext cx="488153" cy="423862"/>
            <a:chOff x="8204200" y="1282700"/>
            <a:chExt cx="728660" cy="29210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4E7A79C-33CD-E6DA-308A-4A90030F0CB6}"/>
                </a:ext>
              </a:extLst>
            </p:cNvPr>
            <p:cNvCxnSpPr/>
            <p:nvPr/>
          </p:nvCxnSpPr>
          <p:spPr>
            <a:xfrm>
              <a:off x="8204200" y="1282700"/>
              <a:ext cx="7112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EDA2E602-A6C3-6B63-F5E8-9D1EDC7193D2}"/>
                </a:ext>
              </a:extLst>
            </p:cNvPr>
            <p:cNvCxnSpPr/>
            <p:nvPr/>
          </p:nvCxnSpPr>
          <p:spPr>
            <a:xfrm>
              <a:off x="8221660" y="1428750"/>
              <a:ext cx="7112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11063F4A-AD00-94A6-36F0-43E02CAB9A08}"/>
                </a:ext>
              </a:extLst>
            </p:cNvPr>
            <p:cNvCxnSpPr/>
            <p:nvPr/>
          </p:nvCxnSpPr>
          <p:spPr>
            <a:xfrm>
              <a:off x="8221660" y="1574800"/>
              <a:ext cx="711200" cy="0"/>
            </a:xfrm>
            <a:prstGeom prst="line">
              <a:avLst/>
            </a:prstGeom>
            <a:ln w="2857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7">
            <a:extLst>
              <a:ext uri="{FF2B5EF4-FFF2-40B4-BE49-F238E27FC236}">
                <a16:creationId xmlns:a16="http://schemas.microsoft.com/office/drawing/2014/main" id="{48E3E08C-83AC-8E7C-0797-90DD7318D624}"/>
              </a:ext>
            </a:extLst>
          </p:cNvPr>
          <p:cNvSpPr txBox="1"/>
          <p:nvPr/>
        </p:nvSpPr>
        <p:spPr>
          <a:xfrm>
            <a:off x="8733326" y="4792383"/>
            <a:ext cx="2152650" cy="315865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002060"/>
                </a:solidFill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BYULSI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2EC7E52F-621C-C4FC-BC3E-91C2A66E4858}"/>
              </a:ext>
            </a:extLst>
          </p:cNvPr>
          <p:cNvSpPr txBox="1"/>
          <p:nvPr/>
        </p:nvSpPr>
        <p:spPr>
          <a:xfrm>
            <a:off x="7609185" y="712835"/>
            <a:ext cx="1474991" cy="36933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002060"/>
                </a:solidFill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Get in Touch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DFBD61-01B3-DA9E-59D5-074143F8EF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343"/>
          <a:stretch>
            <a:fillRect/>
          </a:stretch>
        </p:blipFill>
        <p:spPr>
          <a:xfrm>
            <a:off x="533711" y="887613"/>
            <a:ext cx="5290758" cy="361964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C59209F-DABC-C0C2-22FB-42E5F8492677}"/>
              </a:ext>
            </a:extLst>
          </p:cNvPr>
          <p:cNvSpPr txBox="1"/>
          <p:nvPr/>
        </p:nvSpPr>
        <p:spPr>
          <a:xfrm>
            <a:off x="4460487" y="4325332"/>
            <a:ext cx="5745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가치를 높이는 시간을 선물합니다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8390001-A465-3472-5961-9446280044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657"/>
          <a:stretch>
            <a:fillRect/>
          </a:stretch>
        </p:blipFill>
        <p:spPr>
          <a:xfrm>
            <a:off x="548441" y="4801719"/>
            <a:ext cx="5290758" cy="15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6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5D41-F30C-06A6-ED53-6035AD6F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77902-A846-0A7C-0013-D0FC34D20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E0E595-93CC-2C38-31FB-47665F579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메인화면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C4E7F3-6B21-92D3-2AE4-3CDCC0A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하단으로 스크롤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205434-59D1-BAF0-13CD-C1EBDB9667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B0E6F28-6E12-2AE5-ABB5-536F3B7AFB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메인 </a:t>
            </a:r>
            <a:r>
              <a:rPr lang="en-US" altLang="ko-KR" dirty="0">
                <a:highlight>
                  <a:srgbClr val="FFFF00"/>
                </a:highlight>
              </a:rPr>
              <a:t>/ </a:t>
            </a:r>
            <a:r>
              <a:rPr lang="ko-KR" altLang="en-US" dirty="0">
                <a:highlight>
                  <a:srgbClr val="FFFF00"/>
                </a:highlight>
              </a:rPr>
              <a:t>철학中</a:t>
            </a:r>
            <a:endParaRPr lang="en-US" altLang="ko-KR" dirty="0">
              <a:highlight>
                <a:srgbClr val="FFFF00"/>
              </a:highlight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34E58DA-F357-F9E8-7E0A-BAA7C926CA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67946" y="1704971"/>
            <a:ext cx="1876425" cy="132397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93E13DB-BF50-9513-10E9-EEFEB62BEB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서브 슬로건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EBDC02C-630B-7ACC-8BAC-B03BC1C443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7B97207-0A4E-8CD3-5627-9C902B4AA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9" y="403078"/>
            <a:ext cx="10115895" cy="639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482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F818-D85C-B8C1-9D9C-079541BC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BEBC85-19E6-2834-BD53-967190C83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3F126B-516F-7C12-B7FF-10A5B37E26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메인화면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6E3B6EA-C850-8751-AF3F-C1C0BCA1C2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하단으로 스크롤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109D21F-D977-8366-3D33-2F0817AE79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1D9E437-6D87-1864-9470-6E09E0E00C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메인 </a:t>
            </a:r>
            <a:r>
              <a:rPr lang="en-US" altLang="ko-KR" dirty="0">
                <a:highlight>
                  <a:srgbClr val="FFFF00"/>
                </a:highlight>
              </a:rPr>
              <a:t>/ </a:t>
            </a:r>
            <a:r>
              <a:rPr lang="ko-KR" altLang="en-US" dirty="0">
                <a:highlight>
                  <a:srgbClr val="FFFF00"/>
                </a:highlight>
              </a:rPr>
              <a:t>철학中</a:t>
            </a:r>
            <a:endParaRPr lang="en-US" altLang="ko-KR" dirty="0">
              <a:highlight>
                <a:srgbClr val="FFFF00"/>
              </a:highlight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C2549869-A24C-6CCB-D61C-5CC8586012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67946" y="1704971"/>
            <a:ext cx="1876425" cy="132397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344D9B0-7FBB-D2DF-8C15-A0E5D246EA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서브 슬로건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CB870AA-9D68-C0FF-8931-25E9FFC1F8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7F99C3-2DFB-D40B-6D96-90AC6B6E6A36}"/>
              </a:ext>
            </a:extLst>
          </p:cNvPr>
          <p:cNvSpPr txBox="1"/>
          <p:nvPr/>
        </p:nvSpPr>
        <p:spPr>
          <a:xfrm>
            <a:off x="971773" y="2366958"/>
            <a:ext cx="79626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꼭 하늘을 보지 않아도</a:t>
            </a:r>
            <a:endParaRPr lang="en-US" altLang="ko-KR" sz="2000" dirty="0"/>
          </a:p>
          <a:p>
            <a:r>
              <a:rPr lang="ko-KR" altLang="en-US" sz="2000" dirty="0"/>
              <a:t>작은 물 위에도 별은 비칩니다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ko-KR" altLang="en-US" sz="2000" dirty="0"/>
              <a:t>우리는</a:t>
            </a:r>
            <a:endParaRPr lang="en-US" altLang="ko-KR" sz="2000" dirty="0"/>
          </a:p>
          <a:p>
            <a:r>
              <a:rPr lang="ko-KR" altLang="en-US" sz="2000" dirty="0"/>
              <a:t>그렇게 새로운 시각으로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같은 시간도 다르게 바라보고</a:t>
            </a:r>
            <a:endParaRPr lang="en-US" altLang="ko-KR" sz="2000" dirty="0"/>
          </a:p>
          <a:p>
            <a:r>
              <a:rPr lang="ko-KR" altLang="en-US" sz="2000" dirty="0"/>
              <a:t>그 안에서 가치를 만듭니다</a:t>
            </a:r>
            <a:r>
              <a:rPr lang="en-US" altLang="ko-KR" sz="200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A05F63-16F0-2820-D0E0-35E907CA8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67" y="1150422"/>
            <a:ext cx="4708478" cy="455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04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B4BEB-20BB-64CC-2EDB-022C9208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E3AB6-E480-A0F0-7FAB-850FCE296A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9DAE4D-BDF2-00D8-F469-21F43F8DD0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About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1B6B543-D395-F1FE-A278-F89A39F21F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About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클릭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1F0F73CC-49E8-B456-DE7F-E75769D200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85AAF83-473B-EC43-A07F-A48CC3639F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우리는 무엇을 하는가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회사 소개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4D2DAC7-7209-E764-008A-E3D860F7B2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 err="1"/>
              <a:t>더보기</a:t>
            </a:r>
            <a:r>
              <a:rPr lang="ko-KR" altLang="en-US" dirty="0"/>
              <a:t> 누르면 </a:t>
            </a:r>
            <a:r>
              <a:rPr lang="ko-KR" altLang="en-US" dirty="0" err="1"/>
              <a:t>다음슬라이드로</a:t>
            </a:r>
            <a:r>
              <a:rPr lang="ko-KR" altLang="en-US" dirty="0"/>
              <a:t> 이어서 보기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95B53B6-F51A-57A0-6644-A3FB77A718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AE5C6356-3ED7-264E-A150-02A01D5C98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57" r="87056" b="60903"/>
          <a:stretch>
            <a:fillRect/>
          </a:stretch>
        </p:blipFill>
        <p:spPr bwMode="auto">
          <a:xfrm>
            <a:off x="4703675" y="3470275"/>
            <a:ext cx="759984" cy="64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9973C2CF-FBCE-D8CF-0145-C6601D78AC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191749" y="3324223"/>
            <a:ext cx="1876425" cy="1638302"/>
          </a:xfrm>
        </p:spPr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서비스 </a:t>
            </a:r>
            <a:r>
              <a:rPr lang="en-US" altLang="ko-KR" dirty="0">
                <a:highlight>
                  <a:srgbClr val="FFFF00"/>
                </a:highlight>
              </a:rPr>
              <a:t>3~4</a:t>
            </a:r>
            <a:r>
              <a:rPr lang="ko-KR" altLang="en-US" dirty="0">
                <a:highlight>
                  <a:srgbClr val="FFFF00"/>
                </a:highlight>
              </a:rPr>
              <a:t>개 핵심만</a:t>
            </a:r>
            <a:endParaRPr lang="en-US" altLang="ko-KR" dirty="0">
              <a:highlight>
                <a:srgbClr val="FFFF00"/>
              </a:highlight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DB00DDDE-A4B1-E7DC-E3A5-E48117AC5102}"/>
              </a:ext>
            </a:extLst>
          </p:cNvPr>
          <p:cNvSpPr txBox="1"/>
          <p:nvPr/>
        </p:nvSpPr>
        <p:spPr>
          <a:xfrm>
            <a:off x="633047" y="1064161"/>
            <a:ext cx="8793250" cy="4636248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b="1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BYULSI, </a:t>
            </a:r>
            <a:r>
              <a:rPr lang="ko-KR" altLang="en-US" b="1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별다섯시간은</a:t>
            </a:r>
            <a:endParaRPr lang="en-US" altLang="ko-KR" b="1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같은 시간도 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어떤 시선으로 </a:t>
            </a:r>
            <a:r>
              <a:rPr lang="ko-KR" altLang="en-US" dirty="0" err="1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바라보느냐에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따라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전혀 다른 경험이 된다고 믿습니다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.</a:t>
            </a:r>
          </a:p>
          <a:p>
            <a:pPr lvl="0">
              <a:lnSpc>
                <a:spcPct val="116199"/>
              </a:lnSpc>
            </a:pP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기업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, 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학교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, 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공공기관 등 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다양한 현장에서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각 대상과 목적에 맞는 과정과 경험을 함께 만들어갑니다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.</a:t>
            </a:r>
          </a:p>
          <a:p>
            <a:pPr lvl="0">
              <a:lnSpc>
                <a:spcPct val="116199"/>
              </a:lnSpc>
            </a:pP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우리는 단순히 제공하는 것이 아니라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그 시간이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가치 있는 결과로 남도록 합니다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.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26582C53-49F9-8FD1-E5AC-6ED835C2CD67}"/>
              </a:ext>
            </a:extLst>
          </p:cNvPr>
          <p:cNvSpPr txBox="1"/>
          <p:nvPr/>
        </p:nvSpPr>
        <p:spPr>
          <a:xfrm>
            <a:off x="4248149" y="619125"/>
            <a:ext cx="2152650" cy="42386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About BYULSI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BDBBF25A-7AB4-8E25-AB18-C62F7126DC63}"/>
              </a:ext>
            </a:extLst>
          </p:cNvPr>
          <p:cNvSpPr txBox="1"/>
          <p:nvPr/>
        </p:nvSpPr>
        <p:spPr>
          <a:xfrm>
            <a:off x="1588615" y="5257798"/>
            <a:ext cx="7400115" cy="619125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ko-KR" altLang="en-US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교육</a:t>
            </a:r>
            <a:r>
              <a:rPr lang="en-US" altLang="ko-KR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</a:t>
            </a:r>
            <a:r>
              <a:rPr lang="ko-KR" altLang="en-US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프로그램 </a:t>
            </a:r>
            <a:r>
              <a:rPr lang="en-US" altLang="ko-KR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/ </a:t>
            </a:r>
            <a:r>
              <a:rPr lang="ko-KR" altLang="en-US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행사</a:t>
            </a:r>
            <a:r>
              <a:rPr lang="en-US" altLang="ko-KR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</a:t>
            </a:r>
            <a:r>
              <a:rPr lang="ko-KR" altLang="en-US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기획</a:t>
            </a:r>
            <a:r>
              <a:rPr lang="en-US" altLang="ko-KR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·</a:t>
            </a:r>
            <a:r>
              <a:rPr lang="ko-KR" altLang="en-US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주관</a:t>
            </a:r>
            <a:r>
              <a:rPr lang="en-US" altLang="ko-KR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/ </a:t>
            </a:r>
            <a:r>
              <a:rPr lang="ko-KR" altLang="en-US" sz="2400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맞춤 설계</a:t>
            </a:r>
            <a:endParaRPr lang="en-US" altLang="ko-KR" sz="2400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703A02D-EFE3-0A06-E9D8-41F13499D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492" y="5944084"/>
            <a:ext cx="1276350" cy="6191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E9B79EC-976C-FA57-20A1-4CFBE0D38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3667" y="1278814"/>
            <a:ext cx="4850205" cy="231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2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A955-A92F-23F7-8D67-60D82623C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3DBD47-E035-28C1-6804-9C7ECBFFF1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B04755-0F98-5CDB-628F-3F4BE6DAEC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주요 사업 영역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722EF5B-8FC3-9E93-3CC5-99846B34AC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Work </a:t>
            </a:r>
            <a:r>
              <a:rPr lang="ko-KR" altLang="en-US" dirty="0"/>
              <a:t>클릭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5BD7D9E-ED3F-AB6E-FD1E-E26010089F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F93BF6D1-2609-A6C4-D265-EE125DBC3C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주요 사업 영역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무엇을 하는지 </a:t>
            </a:r>
            <a:r>
              <a:rPr lang="en-US" altLang="ko-KR" dirty="0">
                <a:highlight>
                  <a:srgbClr val="FFFF00"/>
                </a:highlight>
              </a:rPr>
              <a:t>(What)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63840CB-A1A9-A653-D45D-4AAA54D17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길게 설명 </a:t>
            </a:r>
            <a:r>
              <a:rPr lang="en-US" altLang="ko-KR" dirty="0">
                <a:highlight>
                  <a:srgbClr val="FFFF00"/>
                </a:highlight>
              </a:rPr>
              <a:t>X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한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줄 씩 꽂히게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9BFF523-03FB-592E-5224-44E61BDE8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3" name="Picture 2">
            <a:extLst>
              <a:ext uri="{FF2B5EF4-FFF2-40B4-BE49-F238E27FC236}">
                <a16:creationId xmlns:a16="http://schemas.microsoft.com/office/drawing/2014/main" id="{55DF1A90-54AC-2482-C378-959D951A33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57" r="87056" b="60903"/>
          <a:stretch>
            <a:fillRect/>
          </a:stretch>
        </p:blipFill>
        <p:spPr bwMode="auto">
          <a:xfrm>
            <a:off x="4703675" y="3470275"/>
            <a:ext cx="759984" cy="64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4F447F0E-B96F-45BE-1863-B33300E6B4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191749" y="3324223"/>
            <a:ext cx="1876425" cy="1638302"/>
          </a:xfrm>
        </p:spPr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서비스 </a:t>
            </a:r>
            <a:r>
              <a:rPr lang="en-US" altLang="ko-KR" dirty="0">
                <a:highlight>
                  <a:srgbClr val="FFFF00"/>
                </a:highlight>
              </a:rPr>
              <a:t>3~4</a:t>
            </a:r>
            <a:r>
              <a:rPr lang="ko-KR" altLang="en-US" dirty="0">
                <a:highlight>
                  <a:srgbClr val="FFFF00"/>
                </a:highlight>
              </a:rPr>
              <a:t>개 핵심만</a:t>
            </a:r>
            <a:endParaRPr lang="en-US" altLang="ko-KR" dirty="0">
              <a:highlight>
                <a:srgbClr val="FFFF00"/>
              </a:highlight>
            </a:endParaRPr>
          </a:p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dirty="0">
                <a:highlight>
                  <a:srgbClr val="FFFF00"/>
                </a:highlight>
              </a:rPr>
              <a:t>우리가 만드는 것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3BEB7B43-549D-2611-23F5-5231C43D6F0F}"/>
              </a:ext>
            </a:extLst>
          </p:cNvPr>
          <p:cNvSpPr txBox="1"/>
          <p:nvPr/>
        </p:nvSpPr>
        <p:spPr>
          <a:xfrm>
            <a:off x="633047" y="1297679"/>
            <a:ext cx="9307601" cy="4994018"/>
          </a:xfrm>
          <a:prstGeom prst="rect">
            <a:avLst/>
          </a:prstGeom>
        </p:spPr>
        <p:txBody>
          <a:bodyPr rtlCol="0" anchor="t"/>
          <a:lstStyle/>
          <a:p>
            <a:r>
              <a:rPr lang="ko-KR" altLang="en-US" b="1" dirty="0"/>
              <a:t>🔹 교육 프로그램 </a:t>
            </a:r>
          </a:p>
          <a:p>
            <a:r>
              <a:rPr lang="ko-KR" altLang="en-US" dirty="0"/>
              <a:t>목적에 맞는 교육 프로그램을 기획하고 운영합니다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&gt; </a:t>
            </a:r>
            <a:r>
              <a:rPr lang="ko-KR" altLang="en-US" dirty="0"/>
              <a:t>기업 교육 및 연수</a:t>
            </a:r>
            <a:endParaRPr lang="en-US" altLang="ko-KR" dirty="0"/>
          </a:p>
          <a:p>
            <a:r>
              <a:rPr lang="en-US" altLang="ko-KR" dirty="0"/>
              <a:t>&gt; </a:t>
            </a:r>
            <a:r>
              <a:rPr lang="ko-KR" altLang="en-US" dirty="0"/>
              <a:t>진로 및 체험형 교육</a:t>
            </a:r>
            <a:endParaRPr lang="en-US" altLang="ko-KR" dirty="0"/>
          </a:p>
          <a:p>
            <a:r>
              <a:rPr lang="en-US" altLang="ko-KR" dirty="0"/>
              <a:t>&gt; </a:t>
            </a:r>
            <a:r>
              <a:rPr lang="ko-KR" altLang="en-US" dirty="0"/>
              <a:t>활동형</a:t>
            </a:r>
            <a:r>
              <a:rPr lang="en-US" altLang="ko-KR" dirty="0"/>
              <a:t> </a:t>
            </a:r>
            <a:r>
              <a:rPr lang="ko-KR" altLang="en-US" dirty="0"/>
              <a:t>프로그램 운영</a:t>
            </a:r>
            <a:endParaRPr lang="en-US" altLang="ko-KR" dirty="0"/>
          </a:p>
          <a:p>
            <a:br>
              <a:rPr lang="ko-KR" altLang="en-US" sz="2400" dirty="0"/>
            </a:br>
            <a:r>
              <a:rPr lang="ko-KR" altLang="en-US" b="1" dirty="0"/>
              <a:t>🔹 행사 기획 </a:t>
            </a:r>
            <a:r>
              <a:rPr lang="en-US" altLang="ko-KR" b="1" dirty="0"/>
              <a:t>·</a:t>
            </a:r>
            <a:r>
              <a:rPr lang="ko-KR" altLang="en-US" b="1" dirty="0"/>
              <a:t> 주관</a:t>
            </a:r>
          </a:p>
          <a:p>
            <a:r>
              <a:rPr lang="ko-KR" altLang="en-US" dirty="0"/>
              <a:t>행사의 전 과정을 기획하고 주관합니다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&gt; </a:t>
            </a:r>
            <a:r>
              <a:rPr lang="ko-KR" altLang="en-US" dirty="0"/>
              <a:t>기업 및 기관 행사</a:t>
            </a:r>
          </a:p>
          <a:p>
            <a:r>
              <a:rPr lang="en-US" altLang="ko-KR" dirty="0"/>
              <a:t>&gt; </a:t>
            </a:r>
            <a:r>
              <a:rPr lang="ko-KR" altLang="en-US" dirty="0"/>
              <a:t>학교 및 공공 행사</a:t>
            </a:r>
          </a:p>
          <a:p>
            <a:r>
              <a:rPr lang="en-US" altLang="ko-KR" dirty="0"/>
              <a:t>&gt; </a:t>
            </a:r>
            <a:r>
              <a:rPr lang="ko-KR" altLang="en-US" dirty="0"/>
              <a:t>프로그램 중심 행사</a:t>
            </a:r>
            <a:endParaRPr lang="en-US" altLang="ko-KR" dirty="0"/>
          </a:p>
          <a:p>
            <a:br>
              <a:rPr lang="ko-KR" altLang="en-US" sz="2400" dirty="0"/>
            </a:br>
            <a:r>
              <a:rPr lang="ko-KR" altLang="en-US" b="1" dirty="0"/>
              <a:t>🔹 맞춤 설계</a:t>
            </a:r>
          </a:p>
          <a:p>
            <a:r>
              <a:rPr lang="ko-KR" altLang="en-US" dirty="0"/>
              <a:t>상황에 맞는 내용과 흐름을 구성합니다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&gt; </a:t>
            </a:r>
            <a:r>
              <a:rPr lang="ko-KR" altLang="en-US" dirty="0"/>
              <a:t>대상 및 목적 분석</a:t>
            </a:r>
          </a:p>
          <a:p>
            <a:r>
              <a:rPr lang="en-US" altLang="ko-KR" dirty="0"/>
              <a:t>&gt; </a:t>
            </a:r>
            <a:r>
              <a:rPr lang="ko-KR" altLang="en-US" dirty="0"/>
              <a:t>콘텐츠 기획 및 개발</a:t>
            </a:r>
          </a:p>
          <a:p>
            <a:r>
              <a:rPr lang="en-US" altLang="ko-KR" dirty="0"/>
              <a:t>&gt; </a:t>
            </a:r>
            <a:r>
              <a:rPr lang="ko-KR" altLang="en-US" dirty="0"/>
              <a:t>운영 시나리오 설계</a:t>
            </a:r>
            <a:br>
              <a:rPr lang="ko-KR" altLang="en-US" sz="2400" dirty="0"/>
            </a:br>
            <a:endParaRPr lang="en-US" altLang="ko-KR" sz="2400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6D9648BD-CC9A-8894-9EDD-EBF980BDC5D5}"/>
              </a:ext>
            </a:extLst>
          </p:cNvPr>
          <p:cNvSpPr txBox="1"/>
          <p:nvPr/>
        </p:nvSpPr>
        <p:spPr>
          <a:xfrm>
            <a:off x="633047" y="718222"/>
            <a:ext cx="2152650" cy="42386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What We Do</a:t>
            </a:r>
          </a:p>
        </p:txBody>
      </p:sp>
    </p:spTree>
    <p:extLst>
      <p:ext uri="{BB962C8B-B14F-4D97-AF65-F5344CB8AC3E}">
        <p14:creationId xmlns:p14="http://schemas.microsoft.com/office/powerpoint/2010/main" val="227725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004C7-734D-BF9F-FD01-853DFFA6E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8A012D-834A-90FF-5ACB-AD78319AB9D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31" b="64481" l="9788" r="89947">
                        <a14:foregroundMark x1="81746" y1="43989" x2="81746" y2="43989"/>
                        <a14:foregroundMark x1="50794" y1="62022" x2="48148" y2="64481"/>
                      </a14:backgroundRemoval>
                    </a14:imgEffect>
                  </a14:imgLayer>
                </a14:imgProps>
              </a:ext>
            </a:extLst>
          </a:blip>
          <a:srcRect b="29343"/>
          <a:stretch>
            <a:fillRect/>
          </a:stretch>
        </p:blipFill>
        <p:spPr>
          <a:xfrm>
            <a:off x="2477760" y="1452030"/>
            <a:ext cx="5473091" cy="374438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7274ED-A31C-F0BD-4671-31FCD387E4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3463C6-4BCE-2982-F136-F5C448277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주요 사업 영역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04A80AA-7235-F084-6236-97336DCC2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하단으로 스크롤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41C67BE-A186-47E3-D217-CC804D66E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E7FA5C6-6035-DA1C-AAED-93DDC408A1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주요 사업 영역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어떻게 하는지 </a:t>
            </a:r>
            <a:r>
              <a:rPr lang="en-US" altLang="ko-KR" dirty="0">
                <a:highlight>
                  <a:srgbClr val="FFFF00"/>
                </a:highlight>
              </a:rPr>
              <a:t>(How)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1C9B5CA-5689-268F-EB93-E5B7E810A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A6359F34-B186-2A78-287A-C3B1203327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191749" y="3324223"/>
            <a:ext cx="1876425" cy="1638302"/>
          </a:xfrm>
        </p:spPr>
        <p:txBody>
          <a:bodyPr/>
          <a:lstStyle/>
          <a:p>
            <a:pPr marL="171450" indent="-171450">
              <a:lnSpc>
                <a:spcPct val="100000"/>
              </a:lnSpc>
              <a:buFontTx/>
              <a:buChar char="-"/>
            </a:pPr>
            <a:r>
              <a:rPr lang="ko-KR" altLang="en-US" dirty="0">
                <a:highlight>
                  <a:srgbClr val="FFFF00"/>
                </a:highlight>
              </a:rPr>
              <a:t>어떻게 만드는가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6886245-6D0D-1E01-E859-7A3C786DA959}"/>
              </a:ext>
            </a:extLst>
          </p:cNvPr>
          <p:cNvSpPr/>
          <p:nvPr/>
        </p:nvSpPr>
        <p:spPr>
          <a:xfrm>
            <a:off x="633047" y="1308902"/>
            <a:ext cx="2079737" cy="2078823"/>
          </a:xfrm>
          <a:prstGeom prst="ellipse">
            <a:avLst/>
          </a:prstGeom>
          <a:solidFill>
            <a:schemeClr val="bg1"/>
          </a:solidFill>
          <a:ln w="28575">
            <a:solidFill>
              <a:srgbClr val="3B5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C1836"/>
                </a:solidFill>
              </a:rPr>
              <a:t>기획</a:t>
            </a:r>
            <a:br>
              <a:rPr lang="ko-KR" altLang="en-US" dirty="0">
                <a:solidFill>
                  <a:srgbClr val="0C1836"/>
                </a:solidFill>
              </a:rPr>
            </a:br>
            <a:r>
              <a:rPr lang="ko-KR" altLang="en-US" dirty="0">
                <a:solidFill>
                  <a:srgbClr val="0C1836"/>
                </a:solidFill>
              </a:rPr>
              <a:t>목적과 </a:t>
            </a:r>
            <a:br>
              <a:rPr lang="en-US" altLang="ko-KR" dirty="0">
                <a:solidFill>
                  <a:srgbClr val="0C1836"/>
                </a:solidFill>
              </a:rPr>
            </a:br>
            <a:r>
              <a:rPr lang="ko-KR" altLang="en-US" dirty="0">
                <a:solidFill>
                  <a:srgbClr val="0C1836"/>
                </a:solidFill>
              </a:rPr>
              <a:t>방향을 </a:t>
            </a:r>
            <a:br>
              <a:rPr lang="en-US" altLang="ko-KR" dirty="0">
                <a:solidFill>
                  <a:srgbClr val="0C1836"/>
                </a:solidFill>
              </a:rPr>
            </a:br>
            <a:r>
              <a:rPr lang="ko-KR" altLang="en-US" dirty="0">
                <a:solidFill>
                  <a:srgbClr val="0C1836"/>
                </a:solidFill>
              </a:rPr>
              <a:t>설정합니다</a:t>
            </a:r>
            <a:r>
              <a:rPr lang="en-US" altLang="ko-KR" dirty="0">
                <a:solidFill>
                  <a:srgbClr val="0C1836"/>
                </a:solidFill>
              </a:rPr>
              <a:t>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8DFD4CE-D870-9AF3-88CD-90FB438493C5}"/>
              </a:ext>
            </a:extLst>
          </p:cNvPr>
          <p:cNvSpPr/>
          <p:nvPr/>
        </p:nvSpPr>
        <p:spPr>
          <a:xfrm>
            <a:off x="3046090" y="1308902"/>
            <a:ext cx="2079737" cy="2078823"/>
          </a:xfrm>
          <a:prstGeom prst="ellipse">
            <a:avLst/>
          </a:prstGeom>
          <a:solidFill>
            <a:schemeClr val="bg1"/>
          </a:solidFill>
          <a:ln w="28575">
            <a:solidFill>
              <a:srgbClr val="3B5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rgbClr val="0C1836"/>
                </a:solidFill>
              </a:rPr>
              <a:t>구성</a:t>
            </a:r>
            <a:br>
              <a:rPr lang="ko-KR" altLang="en-US" dirty="0">
                <a:solidFill>
                  <a:srgbClr val="0C1836"/>
                </a:solidFill>
              </a:rPr>
            </a:br>
            <a:r>
              <a:rPr lang="ko-KR" altLang="en-US" dirty="0">
                <a:solidFill>
                  <a:srgbClr val="0C1836"/>
                </a:solidFill>
              </a:rPr>
              <a:t>내용과 </a:t>
            </a:r>
            <a:br>
              <a:rPr lang="en-US" altLang="ko-KR" dirty="0">
                <a:solidFill>
                  <a:srgbClr val="0C1836"/>
                </a:solidFill>
              </a:rPr>
            </a:br>
            <a:r>
              <a:rPr lang="ko-KR" altLang="en-US" dirty="0">
                <a:solidFill>
                  <a:srgbClr val="0C1836"/>
                </a:solidFill>
              </a:rPr>
              <a:t>흐름을 구체화합니다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3E7FC44-8FE0-DCFD-F386-72EFA2DEAB39}"/>
              </a:ext>
            </a:extLst>
          </p:cNvPr>
          <p:cNvSpPr/>
          <p:nvPr/>
        </p:nvSpPr>
        <p:spPr>
          <a:xfrm>
            <a:off x="5459133" y="1266040"/>
            <a:ext cx="2079737" cy="2078823"/>
          </a:xfrm>
          <a:prstGeom prst="ellipse">
            <a:avLst/>
          </a:prstGeom>
          <a:solidFill>
            <a:schemeClr val="bg1"/>
          </a:solidFill>
          <a:ln w="28575">
            <a:solidFill>
              <a:srgbClr val="3B5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0C1836"/>
                </a:solidFill>
              </a:rPr>
              <a:t>진행</a:t>
            </a:r>
            <a:br>
              <a:rPr lang="ko-KR" altLang="en-US">
                <a:solidFill>
                  <a:srgbClr val="0C1836"/>
                </a:solidFill>
              </a:rPr>
            </a:br>
            <a:r>
              <a:rPr lang="ko-KR" altLang="en-US">
                <a:solidFill>
                  <a:srgbClr val="0C1836"/>
                </a:solidFill>
              </a:rPr>
              <a:t>현장에서 안정적으로 운영합니다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7E9F920-2A97-8DEC-0B94-DE489E25CBE4}"/>
              </a:ext>
            </a:extLst>
          </p:cNvPr>
          <p:cNvSpPr/>
          <p:nvPr/>
        </p:nvSpPr>
        <p:spPr>
          <a:xfrm>
            <a:off x="7872176" y="1266040"/>
            <a:ext cx="2079737" cy="2078823"/>
          </a:xfrm>
          <a:prstGeom prst="ellipse">
            <a:avLst/>
          </a:prstGeom>
          <a:solidFill>
            <a:schemeClr val="bg1"/>
          </a:solidFill>
          <a:ln w="28575">
            <a:solidFill>
              <a:srgbClr val="3B51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rgbClr val="0C1836"/>
                </a:solidFill>
              </a:rPr>
              <a:t>결과</a:t>
            </a:r>
            <a:br>
              <a:rPr lang="ko-KR" altLang="en-US">
                <a:solidFill>
                  <a:srgbClr val="0C1836"/>
                </a:solidFill>
              </a:rPr>
            </a:br>
            <a:r>
              <a:rPr lang="ko-KR" altLang="en-US">
                <a:solidFill>
                  <a:srgbClr val="0C1836"/>
                </a:solidFill>
              </a:rPr>
              <a:t>의미 있는 성과로 이어지도록 합니다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D602AD7-674E-9F84-3379-B88E954A78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9501515D-8A14-3457-E54C-2DF42F1F530A}"/>
              </a:ext>
            </a:extLst>
          </p:cNvPr>
          <p:cNvSpPr txBox="1"/>
          <p:nvPr/>
        </p:nvSpPr>
        <p:spPr>
          <a:xfrm>
            <a:off x="374726" y="610273"/>
            <a:ext cx="4737212" cy="42386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How We Work (Process)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9F60676C-BE41-ABA0-20C7-8120948BA859}"/>
              </a:ext>
            </a:extLst>
          </p:cNvPr>
          <p:cNvSpPr txBox="1"/>
          <p:nvPr/>
        </p:nvSpPr>
        <p:spPr>
          <a:xfrm>
            <a:off x="374726" y="3719512"/>
            <a:ext cx="2152650" cy="42386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Why Us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177A3-281F-1482-7410-5D7DF7EC10F1}"/>
              </a:ext>
            </a:extLst>
          </p:cNvPr>
          <p:cNvSpPr txBox="1"/>
          <p:nvPr/>
        </p:nvSpPr>
        <p:spPr>
          <a:xfrm>
            <a:off x="479884" y="419219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600" b="1" i="0" dirty="0">
                <a:solidFill>
                  <a:srgbClr val="0D0D0D"/>
                </a:solidFill>
                <a:effectLst/>
                <a:latin typeface="ui-sans-serif"/>
              </a:rPr>
              <a:t>통합 운영 역량</a:t>
            </a:r>
            <a:br>
              <a:rPr lang="ko-KR" altLang="en-US" sz="1600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ko-KR" altLang="en-US" sz="1600" b="0" i="0" dirty="0">
                <a:solidFill>
                  <a:srgbClr val="0D0D0D"/>
                </a:solidFill>
                <a:effectLst/>
                <a:latin typeface="ui-sans-serif"/>
              </a:rPr>
              <a:t>하나의 흐름으로 이어집니다</a:t>
            </a:r>
            <a:r>
              <a:rPr lang="en-US" altLang="ko-KR" sz="1600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algn="l">
              <a:buNone/>
            </a:pPr>
            <a:r>
              <a:rPr lang="ko-KR" altLang="en-US" sz="1600" b="0" i="0" dirty="0">
                <a:solidFill>
                  <a:srgbClr val="0D0D0D"/>
                </a:solidFill>
                <a:effectLst/>
                <a:latin typeface="ui-sans-serif"/>
              </a:rPr>
              <a:t>기획부터 실행까지 유기적으로 이어갑니다</a:t>
            </a:r>
            <a:r>
              <a:rPr lang="en-US" altLang="ko-KR" sz="1600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algn="l">
              <a:buNone/>
            </a:pPr>
            <a:endParaRPr lang="ko-KR" altLang="en-US" sz="1600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ko-KR" altLang="en-US" sz="1600" b="1" i="0" dirty="0">
                <a:solidFill>
                  <a:srgbClr val="0D0D0D"/>
                </a:solidFill>
                <a:effectLst/>
                <a:latin typeface="ui-sans-serif"/>
              </a:rPr>
              <a:t>맞춤형 기획</a:t>
            </a:r>
            <a:br>
              <a:rPr lang="ko-KR" altLang="en-US" sz="1600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ko-KR" altLang="en-US" sz="1600" b="0" i="0" dirty="0">
                <a:solidFill>
                  <a:srgbClr val="0D0D0D"/>
                </a:solidFill>
                <a:effectLst/>
                <a:latin typeface="ui-sans-serif"/>
              </a:rPr>
              <a:t>상황에 맞게 만듭니다</a:t>
            </a:r>
            <a:r>
              <a:rPr lang="en-US" altLang="ko-KR" sz="1600" b="0" i="0" dirty="0">
                <a:solidFill>
                  <a:srgbClr val="0D0D0D"/>
                </a:solidFill>
                <a:effectLst/>
                <a:latin typeface="ui-sans-serif"/>
              </a:rPr>
              <a:t>.</a:t>
            </a:r>
          </a:p>
          <a:p>
            <a:pPr algn="l">
              <a:buNone/>
            </a:pP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대상과 환경에 맞춰 유연하게 구성합니다</a:t>
            </a:r>
            <a:r>
              <a:rPr lang="en-US" altLang="ko-KR" sz="1600" dirty="0">
                <a:solidFill>
                  <a:srgbClr val="0D0D0D"/>
                </a:solidFill>
                <a:latin typeface="ui-sans-serif"/>
              </a:rPr>
              <a:t>.</a:t>
            </a:r>
            <a:endParaRPr lang="en-US" altLang="ko-KR" sz="1600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AD4636-6238-0CFB-B2E8-BCBD86393BD5}"/>
              </a:ext>
            </a:extLst>
          </p:cNvPr>
          <p:cNvSpPr txBox="1"/>
          <p:nvPr/>
        </p:nvSpPr>
        <p:spPr>
          <a:xfrm>
            <a:off x="4793990" y="4192190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sz="1600" b="1" i="0" dirty="0">
                <a:solidFill>
                  <a:srgbClr val="0D0D0D"/>
                </a:solidFill>
                <a:effectLst/>
                <a:latin typeface="ui-sans-serif"/>
              </a:rPr>
              <a:t>현장 중심 실행력</a:t>
            </a:r>
            <a:endParaRPr lang="en-US" altLang="ko-KR" sz="1600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현장에서 완성됩니다</a:t>
            </a:r>
            <a:r>
              <a:rPr lang="en-US" altLang="ko-KR" sz="1600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pPr algn="l">
              <a:buNone/>
            </a:pP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실행 중심의 운영으로 완성도를 높입니다</a:t>
            </a:r>
            <a:endParaRPr lang="en-US" altLang="ko-KR" sz="1600" dirty="0">
              <a:solidFill>
                <a:srgbClr val="0D0D0D"/>
              </a:solidFill>
              <a:latin typeface="ui-sans-serif"/>
            </a:endParaRPr>
          </a:p>
          <a:p>
            <a:pPr algn="l">
              <a:buNone/>
            </a:pPr>
            <a:br>
              <a:rPr lang="ko-KR" altLang="en-US" sz="1600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ko-KR" altLang="en-US" sz="1600" b="1" i="0" dirty="0">
                <a:solidFill>
                  <a:srgbClr val="0D0D0D"/>
                </a:solidFill>
                <a:effectLst/>
                <a:latin typeface="ui-sans-serif"/>
              </a:rPr>
              <a:t>다양한 대상 경험</a:t>
            </a:r>
            <a:endParaRPr lang="en-US" altLang="ko-KR" sz="1600" b="1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None/>
            </a:pP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다양한 경험을 가지고 있습니다</a:t>
            </a:r>
            <a:r>
              <a:rPr lang="en-US" altLang="ko-KR" sz="1600" dirty="0">
                <a:solidFill>
                  <a:srgbClr val="0D0D0D"/>
                </a:solidFill>
                <a:latin typeface="ui-sans-serif"/>
              </a:rPr>
              <a:t>.</a:t>
            </a:r>
          </a:p>
          <a:p>
            <a:pPr algn="l">
              <a:buNone/>
            </a:pP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기업</a:t>
            </a:r>
            <a:r>
              <a:rPr lang="en-US" altLang="ko-KR" sz="1600" dirty="0">
                <a:solidFill>
                  <a:srgbClr val="0D0D0D"/>
                </a:solidFill>
                <a:latin typeface="ui-sans-serif"/>
              </a:rPr>
              <a:t>, </a:t>
            </a: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학교</a:t>
            </a:r>
            <a:r>
              <a:rPr lang="en-US" altLang="ko-KR" sz="1600" dirty="0">
                <a:solidFill>
                  <a:srgbClr val="0D0D0D"/>
                </a:solidFill>
                <a:latin typeface="ui-sans-serif"/>
              </a:rPr>
              <a:t>, </a:t>
            </a:r>
            <a:r>
              <a:rPr lang="ko-KR" altLang="en-US" sz="1600" dirty="0">
                <a:solidFill>
                  <a:srgbClr val="0D0D0D"/>
                </a:solidFill>
                <a:latin typeface="ui-sans-serif"/>
              </a:rPr>
              <a:t>공공기관 등 여러 현장에서 함께해왔습니다</a:t>
            </a:r>
            <a:r>
              <a:rPr lang="en-US" altLang="ko-KR" sz="1600" dirty="0">
                <a:solidFill>
                  <a:srgbClr val="0D0D0D"/>
                </a:solidFill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3250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EE0F-BFF4-C25B-810D-B9043E2B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E129C24-2A6A-CA27-C527-00CD473A31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831" b="64481" l="9788" r="89947">
                        <a14:foregroundMark x1="81746" y1="43989" x2="81746" y2="43989"/>
                        <a14:foregroundMark x1="50794" y1="62022" x2="48148" y2="64481"/>
                      </a14:backgroundRemoval>
                    </a14:imgEffect>
                  </a14:imgLayer>
                </a14:imgProps>
              </a:ext>
            </a:extLst>
          </a:blip>
          <a:srcRect b="29343"/>
          <a:stretch>
            <a:fillRect/>
          </a:stretch>
        </p:blipFill>
        <p:spPr>
          <a:xfrm>
            <a:off x="2449816" y="1222076"/>
            <a:ext cx="5473091" cy="374438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9D69E7-DFC7-E4DF-2AA2-C23450EDDC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회원타입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4DCE57-1A06-BB6F-337E-C7648D69D9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문의하기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AF15EB7-CC6F-36D6-8B27-DE390574E1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클릭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940E2584-01B6-E951-9DFD-CEFB3605CF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FB7D8DC-5479-3E98-7B60-821ECE2A92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문의하기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D55B2B5-C8A9-6E0B-0BBB-285B1FB1694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DB79AFC-F809-E2B2-73EA-ECE0E9FEBC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6D6528DE-4EF1-B213-489C-22CE8ACDAB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191749" y="3324223"/>
            <a:ext cx="1876425" cy="1638302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AD581-A9F1-A877-BF78-D465C818D1FF}"/>
              </a:ext>
            </a:extLst>
          </p:cNvPr>
          <p:cNvSpPr txBox="1"/>
          <p:nvPr/>
        </p:nvSpPr>
        <p:spPr>
          <a:xfrm>
            <a:off x="503148" y="1147582"/>
            <a:ext cx="6096000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프로그램 문의하기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행사 상담 요청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buNone/>
            </a:pPr>
            <a:r>
              <a:rPr lang="ko-KR" altLang="en-US" b="1" i="0" dirty="0">
                <a:solidFill>
                  <a:srgbClr val="0D0D0D"/>
                </a:solidFill>
                <a:effectLst/>
                <a:latin typeface="ui-sans-serif"/>
              </a:rPr>
              <a:t>✔️ 연락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전화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</a:rPr>
              <a:t>010 6868 9321</a:t>
            </a:r>
            <a:endParaRPr lang="ko-KR" altLang="en-US" b="0" i="0" dirty="0">
              <a:solidFill>
                <a:srgbClr val="0D0D0D"/>
              </a:solidFill>
              <a:effectLst/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0D0D0D"/>
                </a:solidFill>
                <a:effectLst/>
                <a:latin typeface="ui-sans-serif"/>
              </a:rPr>
              <a:t>이메일 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ui-sans-serif"/>
                <a:hlinkClick r:id="rId4"/>
              </a:rPr>
              <a:t>byulsi</a:t>
            </a:r>
            <a:r>
              <a:rPr lang="en-US" altLang="ko-KR" dirty="0">
                <a:solidFill>
                  <a:srgbClr val="0D0D0D"/>
                </a:solidFill>
                <a:latin typeface="ui-sans-serif"/>
                <a:hlinkClick r:id="rId4"/>
              </a:rPr>
              <a:t>@naver.com</a:t>
            </a:r>
            <a:endParaRPr lang="en-US" altLang="ko-KR" dirty="0">
              <a:solidFill>
                <a:srgbClr val="0D0D0D"/>
              </a:solidFill>
              <a:latin typeface="ui-sans-serif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D0D0D"/>
                </a:solidFill>
                <a:latin typeface="ui-sans-serif"/>
              </a:rPr>
              <a:t>카카오톡 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DFF9CA6B-382B-7222-71C1-D53F1EF5849B}"/>
              </a:ext>
            </a:extLst>
          </p:cNvPr>
          <p:cNvSpPr txBox="1"/>
          <p:nvPr/>
        </p:nvSpPr>
        <p:spPr>
          <a:xfrm>
            <a:off x="617448" y="3813890"/>
            <a:ext cx="5783351" cy="901333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Our Impact</a:t>
            </a: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의미 있는 경험으로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가치 있는 시간을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만들고 있습니다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7D440B62-9261-7A84-3755-82C5563F9ACB}"/>
              </a:ext>
            </a:extLst>
          </p:cNvPr>
          <p:cNvSpPr txBox="1"/>
          <p:nvPr/>
        </p:nvSpPr>
        <p:spPr>
          <a:xfrm>
            <a:off x="6400799" y="3707326"/>
            <a:ext cx="3406500" cy="901333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함께한 기업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/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학교</a:t>
            </a: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/</a:t>
            </a: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공공기관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100 +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348E4701-0F2F-453A-9D03-F5560B6FE83B}"/>
              </a:ext>
            </a:extLst>
          </p:cNvPr>
          <p:cNvSpPr txBox="1"/>
          <p:nvPr/>
        </p:nvSpPr>
        <p:spPr>
          <a:xfrm>
            <a:off x="4276725" y="3668434"/>
            <a:ext cx="1819275" cy="901333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ko-KR" altLang="en-US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참여한 교육생</a:t>
            </a:r>
            <a:endParaRPr lang="en-US" altLang="ko-KR" dirty="0"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  <a:p>
            <a:pPr lvl="0">
              <a:lnSpc>
                <a:spcPct val="116199"/>
              </a:lnSpc>
            </a:pPr>
            <a:r>
              <a:rPr lang="en-US" altLang="ko-KR" dirty="0"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1000 +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63E7A24F-438F-1587-CBD5-13DD8F4A9A25}"/>
              </a:ext>
            </a:extLst>
          </p:cNvPr>
          <p:cNvSpPr txBox="1"/>
          <p:nvPr/>
        </p:nvSpPr>
        <p:spPr>
          <a:xfrm>
            <a:off x="5324474" y="6000287"/>
            <a:ext cx="5500180" cy="515893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1400" dirty="0">
                <a:solidFill>
                  <a:srgbClr val="002060"/>
                </a:solidFill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BYULSI</a:t>
            </a:r>
            <a:r>
              <a:rPr lang="ko-KR" altLang="en-US" sz="1400" dirty="0">
                <a:solidFill>
                  <a:srgbClr val="002060"/>
                </a:solidFill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와 함께 가치 있는 시간을 만들어보세요</a:t>
            </a:r>
            <a:endParaRPr lang="en-US" altLang="ko-KR" sz="1400" dirty="0">
              <a:solidFill>
                <a:srgbClr val="002060"/>
              </a:solidFill>
              <a:latin typeface="Cafe24 Danjunghae OTF" panose="02000000000000000000" pitchFamily="50" charset="-127"/>
              <a:ea typeface="Cafe24 Danjunghae OTF" panose="02000000000000000000" pitchFamily="50" charset="-127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01FB9474-FD36-3891-BEB4-0C50B3F5F059}"/>
              </a:ext>
            </a:extLst>
          </p:cNvPr>
          <p:cNvSpPr txBox="1"/>
          <p:nvPr/>
        </p:nvSpPr>
        <p:spPr>
          <a:xfrm>
            <a:off x="4248149" y="619125"/>
            <a:ext cx="2152650" cy="423862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Gat</a:t>
            </a:r>
            <a:r>
              <a:rPr lang="ko-KR" altLang="en-US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in</a:t>
            </a:r>
            <a:r>
              <a:rPr lang="ko-KR" altLang="en-US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highlight>
                  <a:srgbClr val="000080"/>
                </a:highlight>
                <a:latin typeface="Cafe24 Danjunghae OTF" panose="02000000000000000000" pitchFamily="50" charset="-127"/>
                <a:ea typeface="Cafe24 Danjunghae OTF" panose="02000000000000000000" pitchFamily="50" charset="-127"/>
              </a:rPr>
              <a:t>Touch</a:t>
            </a:r>
          </a:p>
        </p:txBody>
      </p:sp>
    </p:spTree>
    <p:extLst>
      <p:ext uri="{BB962C8B-B14F-4D97-AF65-F5344CB8AC3E}">
        <p14:creationId xmlns:p14="http://schemas.microsoft.com/office/powerpoint/2010/main" val="105971554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418</Words>
  <Application>Microsoft Office PowerPoint</Application>
  <PresentationFormat>와이드스크린</PresentationFormat>
  <Paragraphs>127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Cafe24 Danjunghae OTF</vt:lpstr>
      <vt:lpstr>ui-sans-serif</vt:lpstr>
      <vt:lpstr>맑은 고딕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동현 함</dc:creator>
  <cp:lastModifiedBy>동현 함</cp:lastModifiedBy>
  <cp:revision>38</cp:revision>
  <dcterms:created xsi:type="dcterms:W3CDTF">2026-04-16T02:56:06Z</dcterms:created>
  <dcterms:modified xsi:type="dcterms:W3CDTF">2026-04-22T01:43:21Z</dcterms:modified>
</cp:coreProperties>
</file>